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oper Hewitt Bold" charset="1" panose="00000000000000000000"/>
      <p:regular r:id="rId22"/>
    </p:embeddedFont>
    <p:embeddedFont>
      <p:font typeface="DM Sans Bold" charset="1" panose="00000000000000000000"/>
      <p:regular r:id="rId23"/>
    </p:embeddedFont>
    <p:embeddedFont>
      <p:font typeface="DM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34502" y="1661881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201" y="4616470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3274" y="2904854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3"/>
                </a:lnTo>
                <a:lnTo>
                  <a:pt x="0" y="394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3840" y="1547917"/>
            <a:ext cx="9475605" cy="506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9"/>
              </a:lnSpc>
            </a:pPr>
            <a:r>
              <a:rPr lang="en-US" sz="911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Implementing VPN Solutions with FortiGate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23305" y="1903587"/>
            <a:ext cx="5610468" cy="6246472"/>
          </a:xfrm>
          <a:custGeom>
            <a:avLst/>
            <a:gdLst/>
            <a:ahLst/>
            <a:cxnLst/>
            <a:rect r="r" b="b" t="t" l="l"/>
            <a:pathLst>
              <a:path h="6246472" w="5610468">
                <a:moveTo>
                  <a:pt x="0" y="0"/>
                </a:moveTo>
                <a:lnTo>
                  <a:pt x="5610467" y="0"/>
                </a:lnTo>
                <a:lnTo>
                  <a:pt x="5610467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685815"/>
            <a:ext cx="855469" cy="1079147"/>
          </a:xfrm>
          <a:custGeom>
            <a:avLst/>
            <a:gdLst/>
            <a:ahLst/>
            <a:cxnLst/>
            <a:rect r="r" b="b" t="t" l="l"/>
            <a:pathLst>
              <a:path h="1079147" w="855469">
                <a:moveTo>
                  <a:pt x="0" y="0"/>
                </a:moveTo>
                <a:lnTo>
                  <a:pt x="855469" y="0"/>
                </a:lnTo>
                <a:lnTo>
                  <a:pt x="855469" y="1079147"/>
                </a:lnTo>
                <a:lnTo>
                  <a:pt x="0" y="1079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82260" y="4236715"/>
            <a:ext cx="8227931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To design and simulate a secure Enterprise VPN architecture using GNS3 and FortiGate, covering: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Basic LAN/WAN setup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IPsec site-to-site VPN (HQ ↔ Branch)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SSL-VPN remote access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 for intelligent WAN routing and failover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04048" y="2463212"/>
            <a:ext cx="9043028" cy="130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GOAL OF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423" y="299862"/>
            <a:ext cx="9475605" cy="182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9"/>
              </a:lnSpc>
            </a:pPr>
            <a:r>
              <a:rPr lang="en-US" sz="911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is VPN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423" y="3255800"/>
            <a:ext cx="10968769" cy="442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1"/>
              </a:lnSpc>
            </a:pPr>
            <a:r>
              <a:rPr lang="en-US" sz="281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 this project, the VPN (Virtual Private Network) is the secure communication tunnel that connects the HQ network and the Branch network over the simulated public WAN.</a:t>
            </a:r>
          </a:p>
          <a:p>
            <a:pPr algn="just">
              <a:lnSpc>
                <a:spcPts val="3941"/>
              </a:lnSpc>
            </a:pPr>
          </a:p>
          <a:p>
            <a:pPr algn="just">
              <a:lnSpc>
                <a:spcPts val="3941"/>
              </a:lnSpc>
            </a:pPr>
          </a:p>
          <a:p>
            <a:pPr algn="just">
              <a:lnSpc>
                <a:spcPts val="3941"/>
              </a:lnSpc>
            </a:pPr>
          </a:p>
          <a:p>
            <a:pPr algn="just">
              <a:lnSpc>
                <a:spcPts val="3941"/>
              </a:lnSpc>
            </a:pPr>
            <a:r>
              <a:rPr lang="en-US" sz="281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We implement a site to site Ipsec VPN That connects </a:t>
            </a:r>
          </a:p>
          <a:p>
            <a:pPr algn="just">
              <a:lnSpc>
                <a:spcPts val="3941"/>
              </a:lnSpc>
            </a:pPr>
            <a:r>
              <a:rPr lang="en-US" sz="281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Two different LANS and the traffic between these Two lans are encrypted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29134" y="2604490"/>
            <a:ext cx="4330166" cy="5078020"/>
          </a:xfrm>
          <a:custGeom>
            <a:avLst/>
            <a:gdLst/>
            <a:ahLst/>
            <a:cxnLst/>
            <a:rect r="r" b="b" t="t" l="l"/>
            <a:pathLst>
              <a:path h="5078020" w="4330166">
                <a:moveTo>
                  <a:pt x="0" y="0"/>
                </a:moveTo>
                <a:lnTo>
                  <a:pt x="4330166" y="0"/>
                </a:lnTo>
                <a:lnTo>
                  <a:pt x="4330166" y="5078020"/>
                </a:lnTo>
                <a:lnTo>
                  <a:pt x="0" y="5078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423" y="299862"/>
            <a:ext cx="9475605" cy="182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9"/>
              </a:lnSpc>
            </a:pPr>
            <a:r>
              <a:rPr lang="en-US" sz="911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is IPsec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423" y="3316885"/>
            <a:ext cx="6146581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IPsec is a set of protocols used to secure communication over untrusted networks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creates a VPN tunnel that encrypts and protects data as it travels between two sites or devices.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How it works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Using of trusted connection between HQ and branch by creating a secure tunnel between both sides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426265" y="2377571"/>
            <a:ext cx="4330166" cy="5078020"/>
          </a:xfrm>
          <a:custGeom>
            <a:avLst/>
            <a:gdLst/>
            <a:ahLst/>
            <a:cxnLst/>
            <a:rect r="r" b="b" t="t" l="l"/>
            <a:pathLst>
              <a:path h="5078020" w="4330166">
                <a:moveTo>
                  <a:pt x="0" y="0"/>
                </a:moveTo>
                <a:lnTo>
                  <a:pt x="4330166" y="0"/>
                </a:lnTo>
                <a:lnTo>
                  <a:pt x="4330166" y="5078020"/>
                </a:lnTo>
                <a:lnTo>
                  <a:pt x="0" y="5078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423" y="299862"/>
            <a:ext cx="9475605" cy="182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9"/>
              </a:lnSpc>
            </a:pPr>
            <a:r>
              <a:rPr lang="en-US" sz="911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is SSL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423" y="3316885"/>
            <a:ext cx="9475605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SSL is a protocol used to secure communication between a user and a server over the internet.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encrypts the data being transmitted, ensuring confidentiality and protection from attackers.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How it works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When a remote user connects using SSL-VPN, the FortiGate creates a secure tunnel that protects the user’s traffic and allows safe access to the internal network (HQ or Branch).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426265" y="2377571"/>
            <a:ext cx="4330166" cy="5078020"/>
          </a:xfrm>
          <a:custGeom>
            <a:avLst/>
            <a:gdLst/>
            <a:ahLst/>
            <a:cxnLst/>
            <a:rect r="r" b="b" t="t" l="l"/>
            <a:pathLst>
              <a:path h="5078020" w="4330166">
                <a:moveTo>
                  <a:pt x="0" y="0"/>
                </a:moveTo>
                <a:lnTo>
                  <a:pt x="4330166" y="0"/>
                </a:lnTo>
                <a:lnTo>
                  <a:pt x="4330166" y="5078020"/>
                </a:lnTo>
                <a:lnTo>
                  <a:pt x="0" y="5078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423" y="299862"/>
            <a:ext cx="9475605" cy="182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9"/>
              </a:lnSpc>
            </a:pPr>
            <a:r>
              <a:rPr lang="en-US" sz="911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is SD-WAN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423" y="3307360"/>
            <a:ext cx="9348523" cy="523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SD-WAN improves WAN performance by dynamically selecting the best connection path for each type of traffic.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uses real-time monitoring to optimize speed, reduce latency, and maintain reliability.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sz="2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How it works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firewall evaluates both WAN connections 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(ISP-A and ISP-B). Based on latency, jitter, or packet loss, SD-WAN routes traffic through the best link and provides automatic failover if one ISP has issues.</a:t>
            </a:r>
          </a:p>
          <a:p>
            <a:pPr algn="just">
              <a:lnSpc>
                <a:spcPts val="336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426265" y="2377571"/>
            <a:ext cx="4330166" cy="5078020"/>
          </a:xfrm>
          <a:custGeom>
            <a:avLst/>
            <a:gdLst/>
            <a:ahLst/>
            <a:cxnLst/>
            <a:rect r="r" b="b" t="t" l="l"/>
            <a:pathLst>
              <a:path h="5078020" w="4330166">
                <a:moveTo>
                  <a:pt x="0" y="0"/>
                </a:moveTo>
                <a:lnTo>
                  <a:pt x="4330166" y="0"/>
                </a:lnTo>
                <a:lnTo>
                  <a:pt x="4330166" y="5078020"/>
                </a:lnTo>
                <a:lnTo>
                  <a:pt x="0" y="5078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14373" y="3520952"/>
            <a:ext cx="4330166" cy="5078020"/>
          </a:xfrm>
          <a:custGeom>
            <a:avLst/>
            <a:gdLst/>
            <a:ahLst/>
            <a:cxnLst/>
            <a:rect r="r" b="b" t="t" l="l"/>
            <a:pathLst>
              <a:path h="5078020" w="4330166">
                <a:moveTo>
                  <a:pt x="0" y="0"/>
                </a:moveTo>
                <a:lnTo>
                  <a:pt x="4330166" y="0"/>
                </a:lnTo>
                <a:lnTo>
                  <a:pt x="4330166" y="5078020"/>
                </a:lnTo>
                <a:lnTo>
                  <a:pt x="0" y="5078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86954"/>
            <a:ext cx="699780" cy="1048716"/>
          </a:xfrm>
          <a:custGeom>
            <a:avLst/>
            <a:gdLst/>
            <a:ahLst/>
            <a:cxnLst/>
            <a:rect r="r" b="b" t="t" l="l"/>
            <a:pathLst>
              <a:path h="1048716" w="699780">
                <a:moveTo>
                  <a:pt x="0" y="0"/>
                </a:moveTo>
                <a:lnTo>
                  <a:pt x="699780" y="0"/>
                </a:lnTo>
                <a:lnTo>
                  <a:pt x="699780" y="1048716"/>
                </a:lnTo>
                <a:lnTo>
                  <a:pt x="0" y="1048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2846" y="-41174"/>
            <a:ext cx="5627202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LAB TOPOLOGY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6069" y="5457825"/>
            <a:ext cx="8227931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Components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2 FortiGates (HQ &amp; Branch)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2 ISP clouds simulating WAN networks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HQ LAN + Branch LAN PCs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Management network (VMnet1) for GUI access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WAN networks (VMnet2 &amp; VMnet3)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GNS3 VM to emulate FortiGate KVM appliances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96989"/>
            <a:ext cx="7377369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Modeling  of a duel-site network consisting of an HQ and a Branch. The setup includes WAN emulation, end-user LANs, and a dedicated management segment.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6954"/>
            <a:ext cx="699780" cy="1048716"/>
          </a:xfrm>
          <a:custGeom>
            <a:avLst/>
            <a:gdLst/>
            <a:ahLst/>
            <a:cxnLst/>
            <a:rect r="r" b="b" t="t" l="l"/>
            <a:pathLst>
              <a:path h="1048716" w="699780">
                <a:moveTo>
                  <a:pt x="0" y="0"/>
                </a:moveTo>
                <a:lnTo>
                  <a:pt x="699780" y="0"/>
                </a:lnTo>
                <a:lnTo>
                  <a:pt x="699780" y="1048716"/>
                </a:lnTo>
                <a:lnTo>
                  <a:pt x="0" y="1048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2846" y="-41174"/>
            <a:ext cx="5627202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LAB TOPOLOGY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849578"/>
            <a:ext cx="9144000" cy="85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Management IP Addresses</a:t>
            </a:r>
          </a:p>
          <a:p>
            <a:pPr algn="just">
              <a:lnSpc>
                <a:spcPts val="3124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Management access was established using the following IPs: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HQ GUI: 172.16.1.10:8443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Branch GUI: 172.16.1.11:8443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Local PC: 172.16.1.1 (VMnet1)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HQ Site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FGT-HQ (Firewall of HQ)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HQ-LAN-SW(HQ SWITCH)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PC-HQ(TESTING CONDUCTIVITY)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Branch Site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FGT-BR(Firewall of branches)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BR-LAN-SW(BR SWITCH)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PC-BR(TESTING CONDUCTIVITY)</a:t>
            </a:r>
          </a:p>
          <a:p>
            <a:pPr algn="just">
              <a:lnSpc>
                <a:spcPts val="4899"/>
              </a:lnSpc>
            </a:pPr>
            <a:r>
              <a:rPr lang="en-US" sz="3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Wan Simulation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ISP A and ISP B providing duel wan path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548159" y="3326252"/>
            <a:ext cx="12023490" cy="6790559"/>
          </a:xfrm>
          <a:custGeom>
            <a:avLst/>
            <a:gdLst/>
            <a:ahLst/>
            <a:cxnLst/>
            <a:rect r="r" b="b" t="t" l="l"/>
            <a:pathLst>
              <a:path h="6790559" w="12023490">
                <a:moveTo>
                  <a:pt x="0" y="0"/>
                </a:moveTo>
                <a:lnTo>
                  <a:pt x="12023490" y="0"/>
                </a:lnTo>
                <a:lnTo>
                  <a:pt x="12023490" y="6790559"/>
                </a:lnTo>
                <a:lnTo>
                  <a:pt x="0" y="6790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229" r="0" b="-322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3425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WE SUCCESSFULLY BUILT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7245" y="2465407"/>
            <a:ext cx="11548632" cy="591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1.LAN Configuration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HQ LAN: 10.0.1.0/24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Branch LAN: 10.0.2.0/24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PCs assigned: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HQ PC: 10.0.1.10 / gateway 10.0.1.1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Branch PC: 10.0.2.10 / gateway 10.0.2.1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. WAN Simulation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Using VMware VMnet networks: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WAN1 (ISP-A): 198.51.100.0/24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WAN2 (ISP-B): 203.0.113.0/24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Ping between WAN networks and PC worked perfectly.</a:t>
            </a:r>
          </a:p>
          <a:p>
            <a:pPr algn="just">
              <a:lnSpc>
                <a:spcPts val="227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77332" y="2446050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099" y="0"/>
                </a:lnTo>
                <a:lnTo>
                  <a:pt x="4179099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3425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WE SUCCESSFULLY BUILT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02789"/>
            <a:ext cx="11548632" cy="460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3. IPsec VPN (HQ ↔ Branch)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Configured both Phase1 and Phase2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Tunnel 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successfully established using DES-SHA256 (limited by VM license)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HQ PC ↔ Branch PC com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munication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worked through the tunnel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lang="en-US" sz="3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. Management Network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Separate mgmt interface (port4)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Both FortiGates reachable via GUI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Admin port moved from 443 → 8443 to avoid conflict with SSL-VPN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227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14421" y="2401611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100" y="0"/>
                </a:lnTo>
                <a:lnTo>
                  <a:pt x="4179100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-180974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WE COULD NOT COMPLETE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13454645" cy="979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(because of FortiGate VM image limitations)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1.SSL-VPN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FortiClient failed with error (-5010): VPN server unreachable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Reason: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FortiGate image used was a limited/demo build, missing: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sslvp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nd daemon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SSL-VPN debug commands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Listener on port 443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Full crypto support (AES missing)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Without the full VM license, SSL-VPN does not work.</a:t>
            </a:r>
          </a:p>
          <a:p>
            <a:pPr algn="just">
              <a:lnSpc>
                <a:spcPts val="2396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2. SD-WAN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SD-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WAN GUI did not show WAN interfaces (port2, port3).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Reason: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SD-WAN feature is disabled in the limited/demo KVM image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image only showed mgmt interface as SD-WAN member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Commands like config system virtual-wan-link partially worked but members never appeared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SD-WAN requires the full-feature FortiGate VM image, not the minimal one.</a:t>
            </a:r>
          </a:p>
          <a:p>
            <a:pPr algn="just">
              <a:lnSpc>
                <a:spcPts val="2396"/>
              </a:lnSpc>
            </a:pPr>
          </a:p>
          <a:p>
            <a:pPr algn="just">
              <a:lnSpc>
                <a:spcPts val="20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6214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WE COULD NOT COMPLETE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34888"/>
            <a:ext cx="10880796" cy="494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(because of FortiGate VM image limitations)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. </a:t>
            </a: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Full Cryptography (AES)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IPsec proposals were limited to: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S-MD5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DES-SHA1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ES-SHA256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his is due to: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Crypto restrictions in the demo/minimal FortiGate image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 full license = no strong crypto</a:t>
            </a:r>
          </a:p>
          <a:p>
            <a:pPr algn="just">
              <a:lnSpc>
                <a:spcPts val="2396"/>
              </a:lnSpc>
            </a:pPr>
          </a:p>
          <a:p>
            <a:pPr algn="just">
              <a:lnSpc>
                <a:spcPts val="202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77332" y="2446050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099" y="0"/>
                </a:lnTo>
                <a:lnTo>
                  <a:pt x="4179099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3425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WHY THESE FEATURES FAILED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85971"/>
            <a:ext cx="11090905" cy="709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FortiGate qcow2 image used in the lab was a demo/minimal KVM build, which lacked s</a:t>
            </a:r>
            <a:r>
              <a:rPr lang="en-US" sz="25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everal essential</a:t>
            </a:r>
            <a:r>
              <a:rPr lang="en-US" sz="25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FortiOS modules.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Limitations of the demo image: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SD-WAN engine not included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SSL-VPN ser</a:t>
            </a: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vices disabled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Limited cryptography (no AES)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Missing advanced</a:t>
            </a: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CLI/diagnostic tools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Required background l</a:t>
            </a: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istener processes unavailable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Not an officially licensed FortiGate VM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olution:</a:t>
            </a:r>
          </a:p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Use the full-featured, licensed Fortinet VM image:</a:t>
            </a:r>
          </a:p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FGT_VM64_KVM-v7.x.x-FORTI</a:t>
            </a:r>
            <a:r>
              <a:rPr lang="en-US" sz="261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NET.out.kvm.zip</a:t>
            </a:r>
          </a:p>
          <a:p>
            <a:pPr algn="just">
              <a:lnSpc>
                <a:spcPts val="3656"/>
              </a:lnSpc>
            </a:pPr>
          </a:p>
          <a:p>
            <a:pPr algn="just">
              <a:lnSpc>
                <a:spcPts val="3656"/>
              </a:lnSpc>
            </a:pPr>
          </a:p>
          <a:p>
            <a:pPr algn="just">
              <a:lnSpc>
                <a:spcPts val="32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77332" y="2446050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099" y="0"/>
                </a:lnTo>
                <a:lnTo>
                  <a:pt x="4179099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9692"/>
            <a:ext cx="14634644" cy="207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WOULD WORK WITH THE FULL FORTIGATE VM LICENSE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92340"/>
            <a:ext cx="11090905" cy="515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Using the official VM image, we would be able to complete: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Fully functional SSL-VPN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Full SD-W</a:t>
            </a: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AN configuration (WAN load balancing &amp; failover)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AES-256 IPsec tunnels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Full diagnostic/debug commands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SD-WAN monitoring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SSL-VPN portal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WAN link performance dashboards</a:t>
            </a:r>
          </a:p>
          <a:p>
            <a:pPr algn="just">
              <a:lnSpc>
                <a:spcPts val="32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07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89037" y="3595754"/>
            <a:ext cx="2564525" cy="4007071"/>
          </a:xfrm>
          <a:custGeom>
            <a:avLst/>
            <a:gdLst/>
            <a:ahLst/>
            <a:cxnLst/>
            <a:rect r="r" b="b" t="t" l="l"/>
            <a:pathLst>
              <a:path h="4007071" w="2564525">
                <a:moveTo>
                  <a:pt x="0" y="0"/>
                </a:moveTo>
                <a:lnTo>
                  <a:pt x="2564526" y="0"/>
                </a:lnTo>
                <a:lnTo>
                  <a:pt x="2564526" y="4007070"/>
                </a:lnTo>
                <a:lnTo>
                  <a:pt x="0" y="400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23789" y="1614553"/>
            <a:ext cx="4132897" cy="6143495"/>
          </a:xfrm>
          <a:custGeom>
            <a:avLst/>
            <a:gdLst/>
            <a:ahLst/>
            <a:cxnLst/>
            <a:rect r="r" b="b" t="t" l="l"/>
            <a:pathLst>
              <a:path h="6143495" w="4132897">
                <a:moveTo>
                  <a:pt x="0" y="0"/>
                </a:moveTo>
                <a:lnTo>
                  <a:pt x="4132897" y="0"/>
                </a:lnTo>
                <a:lnTo>
                  <a:pt x="4132897" y="6143495"/>
                </a:lnTo>
                <a:lnTo>
                  <a:pt x="0" y="614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62078"/>
            <a:ext cx="7072639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41123"/>
            <a:ext cx="8320254" cy="604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We successfully built the core VPN topology using GNS3 and FortiGate: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LAN environment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WAN simulation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Full IPsec tunnel HQ ↔ Branch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Management access &amp; GUI functionality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But due to FortiGate VM license restrictions: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SSL-VPN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Advanced crypto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could not be completed.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With the official VM image, the entire project would run as designed.</a:t>
            </a:r>
          </a:p>
          <a:p>
            <a:pPr algn="just">
              <a:lnSpc>
                <a:spcPts val="291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08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54446">
            <a:off x="15101916" y="432582"/>
            <a:ext cx="2303294" cy="3598898"/>
          </a:xfrm>
          <a:custGeom>
            <a:avLst/>
            <a:gdLst/>
            <a:ahLst/>
            <a:cxnLst/>
            <a:rect r="r" b="b" t="t" l="l"/>
            <a:pathLst>
              <a:path h="3598898" w="2303294">
                <a:moveTo>
                  <a:pt x="0" y="0"/>
                </a:moveTo>
                <a:lnTo>
                  <a:pt x="2303294" y="0"/>
                </a:lnTo>
                <a:lnTo>
                  <a:pt x="2303294" y="3598897"/>
                </a:lnTo>
                <a:lnTo>
                  <a:pt x="0" y="3598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885027">
            <a:off x="1724549" y="914951"/>
            <a:ext cx="3786562" cy="2987942"/>
          </a:xfrm>
          <a:custGeom>
            <a:avLst/>
            <a:gdLst/>
            <a:ahLst/>
            <a:cxnLst/>
            <a:rect r="r" b="b" t="t" l="l"/>
            <a:pathLst>
              <a:path h="2987942" w="3786562">
                <a:moveTo>
                  <a:pt x="0" y="0"/>
                </a:moveTo>
                <a:lnTo>
                  <a:pt x="3786562" y="0"/>
                </a:lnTo>
                <a:lnTo>
                  <a:pt x="3786562" y="2987941"/>
                </a:lnTo>
                <a:lnTo>
                  <a:pt x="0" y="298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85715" y="7190585"/>
            <a:ext cx="5160692" cy="3096415"/>
          </a:xfrm>
          <a:custGeom>
            <a:avLst/>
            <a:gdLst/>
            <a:ahLst/>
            <a:cxnLst/>
            <a:rect r="r" b="b" t="t" l="l"/>
            <a:pathLst>
              <a:path h="3096415" w="5160692">
                <a:moveTo>
                  <a:pt x="0" y="0"/>
                </a:moveTo>
                <a:lnTo>
                  <a:pt x="5160692" y="0"/>
                </a:lnTo>
                <a:lnTo>
                  <a:pt x="5160692" y="3096415"/>
                </a:lnTo>
                <a:lnTo>
                  <a:pt x="0" y="3096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839221">
            <a:off x="12945178" y="6970551"/>
            <a:ext cx="1812123" cy="3144062"/>
          </a:xfrm>
          <a:custGeom>
            <a:avLst/>
            <a:gdLst/>
            <a:ahLst/>
            <a:cxnLst/>
            <a:rect r="r" b="b" t="t" l="l"/>
            <a:pathLst>
              <a:path h="3144062" w="1812123">
                <a:moveTo>
                  <a:pt x="0" y="0"/>
                </a:moveTo>
                <a:lnTo>
                  <a:pt x="1812123" y="0"/>
                </a:lnTo>
                <a:lnTo>
                  <a:pt x="1812123" y="3144062"/>
                </a:lnTo>
                <a:lnTo>
                  <a:pt x="0" y="3144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DAG5U74IMB0</dc:identifier>
  <dcterms:modified xsi:type="dcterms:W3CDTF">2011-08-01T06:04:30Z</dcterms:modified>
  <cp:revision>1</cp:revision>
  <dc:title>Expansion Plan</dc:title>
</cp:coreProperties>
</file>